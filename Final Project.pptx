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2" r:id="rId5"/>
    <p:sldId id="294" r:id="rId6"/>
    <p:sldId id="296" r:id="rId7"/>
    <p:sldId id="305" r:id="rId8"/>
    <p:sldId id="306" r:id="rId9"/>
    <p:sldId id="308" r:id="rId10"/>
    <p:sldId id="300" r:id="rId11"/>
    <p:sldId id="307" r:id="rId12"/>
    <p:sldId id="2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81" d="100"/>
          <a:sy n="81" d="100"/>
        </p:scale>
        <p:origin x="754" y="6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80" y="2492650"/>
            <a:ext cx="5257794" cy="1610993"/>
          </a:xfrm>
        </p:spPr>
        <p:txBody>
          <a:bodyPr/>
          <a:lstStyle/>
          <a:p>
            <a:r>
              <a:rPr lang="en-US" sz="3600" dirty="0"/>
              <a:t>Final Project UART(</a:t>
            </a:r>
            <a:r>
              <a:rPr lang="en-US" sz="3600" dirty="0" err="1"/>
              <a:t>tx</a:t>
            </a:r>
            <a:r>
              <a:rPr lang="en-US" sz="3600" dirty="0"/>
              <a:t>) </a:t>
            </a:r>
            <a:br>
              <a:rPr lang="en-US" sz="3600" dirty="0"/>
            </a:br>
            <a:r>
              <a:rPr lang="en-US" sz="3600" dirty="0"/>
              <a:t>(Universal Asynchronous Receiver </a:t>
            </a:r>
            <a:r>
              <a:rPr lang="en-US" sz="3600" dirty="0" err="1"/>
              <a:t>Transmitte</a:t>
            </a:r>
            <a:r>
              <a:rPr lang="en-US" sz="3600" dirty="0"/>
              <a:t>)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84763" y="4160509"/>
            <a:ext cx="5471621" cy="781882"/>
          </a:xfrm>
        </p:spPr>
        <p:txBody>
          <a:bodyPr/>
          <a:lstStyle/>
          <a:p>
            <a:r>
              <a:rPr lang="en-US" dirty="0"/>
              <a:t>By:</a:t>
            </a:r>
            <a:r>
              <a:rPr lang="ar-EG" dirty="0"/>
              <a:t> </a:t>
            </a:r>
            <a:r>
              <a:rPr lang="en-US" dirty="0"/>
              <a:t>Yusuf Ahmed Mohmed Abdelfadel</a:t>
            </a:r>
          </a:p>
          <a:p>
            <a:r>
              <a:rPr lang="en-US" dirty="0"/>
              <a:t>Supervised by: Moaz Khaled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86548" y="2712843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36C8769-E764-BAEA-EF12-7D77B53A7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68497" y="3223578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0128D79C-B037-002C-F30A-2DADB6AAF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4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6" name="Freeform: Shape 11">
            <a:extLst>
              <a:ext uri="{FF2B5EF4-FFF2-40B4-BE49-F238E27FC236}">
                <a16:creationId xmlns:a16="http://schemas.microsoft.com/office/drawing/2014/main" id="{5062AD7F-52AE-6B4D-AAC2-78008B66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65689" y="557834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43839066-53E8-8F00-713D-BAF4FF979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8876" y="4671241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6B9945-91D3-BEB2-6254-EDB2638503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9" r="2876"/>
          <a:stretch>
            <a:fillRect/>
          </a:stretch>
        </p:blipFill>
        <p:spPr>
          <a:xfrm>
            <a:off x="164165" y="156790"/>
            <a:ext cx="3049412" cy="18738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D3127D-F688-4B62-F43F-4B436970B9C0}"/>
              </a:ext>
            </a:extLst>
          </p:cNvPr>
          <p:cNvSpPr txBox="1"/>
          <p:nvPr/>
        </p:nvSpPr>
        <p:spPr>
          <a:xfrm>
            <a:off x="1484763" y="509743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S26-B8-FPGA-G8 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ABD963-5621-F2CB-32D0-D76A54DBBD99}"/>
              </a:ext>
            </a:extLst>
          </p:cNvPr>
          <p:cNvSpPr txBox="1"/>
          <p:nvPr/>
        </p:nvSpPr>
        <p:spPr>
          <a:xfrm>
            <a:off x="4656398" y="239858"/>
            <a:ext cx="28792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Project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8C1F14-84C6-B518-C25A-7F52B9330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36" y="1722443"/>
            <a:ext cx="4933228" cy="2430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74402F-AA17-DE71-DD28-C1D113E73D95}"/>
              </a:ext>
            </a:extLst>
          </p:cNvPr>
          <p:cNvSpPr txBox="1"/>
          <p:nvPr/>
        </p:nvSpPr>
        <p:spPr>
          <a:xfrm>
            <a:off x="292260" y="741550"/>
            <a:ext cx="10657389" cy="5643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Project Overview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The UART Transmitter (UART TX) is a digital RTL design that converts 8-bit parallel input data into a serial UART frame. The transmitter receives new data when the V_INPUT signal is high for one clock cycle and sends the complete frame through TX_OUT.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Main Features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8-bit parallel data input through P_DATA[7:0].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Serial data transmission through TX_OUT.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BUSY signal indicates that the transmitter is processing a frame.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Optional parity bit controlled by P_EN.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Even or Odd parity selected using P_BIT.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Asynchronous Active-Low Reset.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New data is not accepted while a frame is being transmitted.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Main Sub-Modules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1. Control (FSM)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The main controller of the design. It manages the transmission sequence using five states: STEP0, STEP1, STEP2, STEP3, and STEP4.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2. Serializer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Converts the 8-bit parallel input data into a serial bit stream and provides the data bits sequentially.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3. Parity Calculator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Generates the parity bit according to the selected parity mode: Even or Odd.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4. MUX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Selects the appropriate signal according to the current FSM state and sends it to TX_OUT.</a:t>
            </a:r>
          </a:p>
        </p:txBody>
      </p:sp>
    </p:spTree>
    <p:extLst>
      <p:ext uri="{BB962C8B-B14F-4D97-AF65-F5344CB8AC3E}">
        <p14:creationId xmlns:p14="http://schemas.microsoft.com/office/powerpoint/2010/main" val="206111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0F02F-3699-C17B-C061-5A02D9E1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F6AF4-E38B-DDF3-4D5C-72DB2EC3CF47}"/>
              </a:ext>
            </a:extLst>
          </p:cNvPr>
          <p:cNvSpPr txBox="1"/>
          <p:nvPr/>
        </p:nvSpPr>
        <p:spPr>
          <a:xfrm>
            <a:off x="4993511" y="365132"/>
            <a:ext cx="2204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F7812-6E34-CECB-5860-B8C4A00A30F4}"/>
              </a:ext>
            </a:extLst>
          </p:cNvPr>
          <p:cNvSpPr txBox="1"/>
          <p:nvPr/>
        </p:nvSpPr>
        <p:spPr>
          <a:xfrm>
            <a:off x="115747" y="734464"/>
            <a:ext cx="11632557" cy="610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UART Frame Structure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START → DATA → OPTIONAL PARITY → STOP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The TX_OUT line remains HIGH when the transmitter is idle.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FSM Sequence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STEP0 → STEP1 → STEP2 → STEP3 → STEP4 → STEP0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STEP0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Beginning / Idle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STEP1: Start Bit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STEP2: Data Bits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STEP3: Parity Bit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STEP4: Stop Bit / End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Top Module Data Flow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P_DATA → Serializer →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serial_out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┐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P_DATA → Parity Calculator →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parity_bit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├→ MUX → TX_OUT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V_INPUT, P_EN → Control FSM → state ┘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Control FSM → BUSY,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load_data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shift_en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Presentation Script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"This is our UART TX Top Module. Its main purpose is to integrate the four main sub-modules of our design: the Control FSM, Serializer, Parity Calculator, and MUX. The input data is received through the 8-bit P_DATA bus when V_INPUT is high. The Control module manages the transmission process and generates the required control signals. The Serializer converts the parallel data into a serial bit stream, while the Parity Calculator generates the selected parity bit. Finally, the MUX selects the correct signal according to the current FSM state and sends it to TX_OUT. Therefore, the Top Module connects all sub-modules together to implement the complete UART Transmitter."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Key Design Concept</a:t>
            </a:r>
            <a:b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Control = the brain of the design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Serializer = converts parallel data to serial data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Parity Calculator = generates the parity bit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MUX = selects the transmitted signal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Top Module = integrates and connects all four sub-modules</a:t>
            </a:r>
          </a:p>
        </p:txBody>
      </p:sp>
    </p:spTree>
    <p:extLst>
      <p:ext uri="{BB962C8B-B14F-4D97-AF65-F5344CB8AC3E}">
        <p14:creationId xmlns:p14="http://schemas.microsoft.com/office/powerpoint/2010/main" val="124421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70258-81A7-2E2C-404A-A1FF541D4AA9}"/>
              </a:ext>
            </a:extLst>
          </p:cNvPr>
          <p:cNvSpPr txBox="1"/>
          <p:nvPr/>
        </p:nvSpPr>
        <p:spPr>
          <a:xfrm>
            <a:off x="4966158" y="263951"/>
            <a:ext cx="225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Objective_rx</a:t>
            </a:r>
            <a:r>
              <a:rPr lang="en-US" sz="2400" b="1" dirty="0"/>
              <a:t> 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942C3288-81BF-580D-2C2A-B8606D7335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9127CAB0-8378-9B6B-4BD2-2276B1B919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ACA67D-B8FF-B762-2F5E-0EDD5D0AF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848" y="2081998"/>
            <a:ext cx="9165103" cy="375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38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13E1A-F107-55A6-E957-47D8C1EB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45F92E-C99C-26E2-3F41-75B58FFD4BE1}"/>
              </a:ext>
            </a:extLst>
          </p:cNvPr>
          <p:cNvSpPr txBox="1"/>
          <p:nvPr/>
        </p:nvSpPr>
        <p:spPr>
          <a:xfrm>
            <a:off x="3906526" y="254525"/>
            <a:ext cx="43789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uart_rx</a:t>
            </a:r>
            <a:r>
              <a:rPr lang="en-US" sz="2400" b="1" dirty="0"/>
              <a:t> —Required </a:t>
            </a:r>
            <a:r>
              <a:rPr lang="en-US" sz="2400" b="1" dirty="0" err="1"/>
              <a:t>Behaviour</a:t>
            </a:r>
            <a:r>
              <a:rPr lang="en-US" sz="2400" b="1" dirty="0"/>
              <a:t> 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B03E1ABF-2B11-8C34-4D30-457EA2FD13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0EFC58B-B1A1-AA3B-3DBE-A969D8FA00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F9C97-3A6B-EAA6-D547-7D304CAF7315}"/>
              </a:ext>
            </a:extLst>
          </p:cNvPr>
          <p:cNvSpPr txBox="1"/>
          <p:nvPr/>
        </p:nvSpPr>
        <p:spPr>
          <a:xfrm>
            <a:off x="158740" y="1248163"/>
            <a:ext cx="786347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- After reset → All outputs are `0`.</a:t>
            </a:r>
          </a:p>
          <a:p>
            <a:endParaRPr lang="en-US" dirty="0"/>
          </a:p>
          <a:p>
            <a:r>
              <a:rPr lang="en-US" dirty="0"/>
              <a:t>- Start bit → Detected **only** when idle. Zeros inside the data byte are ignored.</a:t>
            </a:r>
          </a:p>
          <a:p>
            <a:endParaRPr lang="en-US" dirty="0"/>
          </a:p>
          <a:p>
            <a:r>
              <a:rPr lang="en-US" dirty="0"/>
              <a:t>- Busy</a:t>
            </a:r>
            <a:r>
              <a:rPr lang="ar-EG" dirty="0"/>
              <a:t> </a:t>
            </a:r>
            <a:r>
              <a:rPr lang="en-US" dirty="0"/>
              <a:t>→ Stays `1` from the start bit until the frame ends.</a:t>
            </a:r>
          </a:p>
          <a:p>
            <a:endParaRPr lang="en-US" dirty="0"/>
          </a:p>
          <a:p>
            <a:r>
              <a:rPr lang="en-US" dirty="0"/>
              <a:t>- Valid &amp; Data → `</a:t>
            </a:r>
            <a:r>
              <a:rPr lang="en-US" dirty="0" err="1"/>
              <a:t>o_valid</a:t>
            </a:r>
            <a:r>
              <a:rPr lang="en-US" dirty="0"/>
              <a:t>` pulses for **1 cycle** with the received byte on `</a:t>
            </a:r>
            <a:r>
              <a:rPr lang="en-US" dirty="0" err="1"/>
              <a:t>o_data</a:t>
            </a:r>
            <a:r>
              <a:rPr lang="en-US" dirty="0"/>
              <a:t>`.</a:t>
            </a:r>
          </a:p>
          <a:p>
            <a:endParaRPr lang="en-US" dirty="0"/>
          </a:p>
          <a:p>
            <a:r>
              <a:rPr lang="en-US" dirty="0"/>
              <a:t>- Frame Error → Pulses with `</a:t>
            </a:r>
            <a:r>
              <a:rPr lang="en-US" dirty="0" err="1"/>
              <a:t>o_valid</a:t>
            </a:r>
            <a:r>
              <a:rPr lang="en-US" dirty="0"/>
              <a:t>` if the stop bit is `0` (not `1`).</a:t>
            </a:r>
          </a:p>
          <a:p>
            <a:endParaRPr lang="en-US" dirty="0"/>
          </a:p>
          <a:p>
            <a:r>
              <a:rPr lang="en-US" dirty="0"/>
              <a:t>- Parity Error → Pulses with `</a:t>
            </a:r>
            <a:r>
              <a:rPr lang="en-US" dirty="0" err="1"/>
              <a:t>o_valid</a:t>
            </a:r>
            <a:r>
              <a:rPr lang="en-US" dirty="0"/>
              <a:t>` if parity is enabled and doesn't match. Always `0` when disabled.</a:t>
            </a:r>
          </a:p>
          <a:p>
            <a:endParaRPr lang="en-US" dirty="0"/>
          </a:p>
          <a:p>
            <a:r>
              <a:rPr lang="en-US" dirty="0"/>
              <a:t>- Always deliver → Even if there is an error, `</a:t>
            </a:r>
            <a:r>
              <a:rPr lang="en-US" dirty="0" err="1"/>
              <a:t>o_valid</a:t>
            </a:r>
            <a:r>
              <a:rPr lang="en-US" dirty="0"/>
              <a:t>` still pulses and the byte is still delivered.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2BD64-D6E4-561B-1DDA-CFAAB42BC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543" y="1518314"/>
            <a:ext cx="4426717" cy="351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6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B96EE3-724B-BD96-4E7E-DCDF4C720D9D}"/>
              </a:ext>
            </a:extLst>
          </p:cNvPr>
          <p:cNvSpPr txBox="1"/>
          <p:nvPr/>
        </p:nvSpPr>
        <p:spPr>
          <a:xfrm>
            <a:off x="3608110" y="82187"/>
            <a:ext cx="4070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UART RX-TX Communication – Summary 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6AE60A-521B-B446-579D-EC71AD709F45}"/>
              </a:ext>
            </a:extLst>
          </p:cNvPr>
          <p:cNvSpPr txBox="1"/>
          <p:nvPr/>
        </p:nvSpPr>
        <p:spPr>
          <a:xfrm>
            <a:off x="0" y="433051"/>
            <a:ext cx="5682005" cy="6342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1. UART Frame (LSB First)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Idle: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(high)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Start: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(1 bit)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Data: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8 bits (LSB first)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Parity: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optional 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par_en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Stop: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(≥1 bit)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2. Testbench Role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Connects 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uart_tx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and 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uart_rx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via a wire 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line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Sends random bytes with various parity settings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Injects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parity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and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framing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errors by forcing the line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Compares received data + errors against expected queue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Reports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score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(correct frames / total)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BF981-DA6E-4CEE-A7C0-BA742E2B9D0F}"/>
              </a:ext>
            </a:extLst>
          </p:cNvPr>
          <p:cNvSpPr txBox="1"/>
          <p:nvPr/>
        </p:nvSpPr>
        <p:spPr>
          <a:xfrm>
            <a:off x="5643121" y="540131"/>
            <a:ext cx="6117996" cy="6128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ar-EG" b="1" i="0" dirty="0">
                <a:solidFill>
                  <a:srgbClr val="0F1115"/>
                </a:solidFill>
                <a:effectLst/>
                <a:latin typeface="quote-cjk-patch"/>
              </a:rPr>
              <a:t>3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. Root Cause of Failures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Transmitter: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shift_en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asserted on same cycle as data output →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LSB lost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(bytes left‑shifted)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Receiver: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Sampled on 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posedge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(same as TX) → race condition; extra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START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state delayed sampling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4. Final Fixes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TX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control.sv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Split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DATA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into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DATA_OUT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(output current bit) and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DATA_SHIFT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(shift to next)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MUX: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Updated to handle new states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RX Controller / Datapath: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Sample on </a:t>
            </a: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negedge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(middle of bit)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Remove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START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state; go directly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IDLE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→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DATA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uart_rx.sv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Connect 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i_rx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directly (no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synchroniser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–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negedge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sampling avoids metastability</a:t>
            </a:r>
          </a:p>
        </p:txBody>
      </p:sp>
    </p:spTree>
    <p:extLst>
      <p:ext uri="{BB962C8B-B14F-4D97-AF65-F5344CB8AC3E}">
        <p14:creationId xmlns:p14="http://schemas.microsoft.com/office/powerpoint/2010/main" val="222908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CD28-FD7F-52FF-5E38-3DCFB3C1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aca664f3-9ec6-493f-8df7-01d4ab39a80c"/>
          <p:cNvSpPr>
            <a:spLocks noChangeAspect="1" noChangeArrowheads="1"/>
          </p:cNvSpPr>
          <p:nvPr/>
        </p:nvSpPr>
        <p:spPr bwMode="auto">
          <a:xfrm>
            <a:off x="11971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sp>
        <p:nvSpPr>
          <p:cNvPr id="3" name="مربع نص 2"/>
          <p:cNvSpPr txBox="1"/>
          <p:nvPr/>
        </p:nvSpPr>
        <p:spPr>
          <a:xfrm>
            <a:off x="4920343" y="160338"/>
            <a:ext cx="2148114" cy="523220"/>
          </a:xfrm>
          <a:prstGeom prst="rect">
            <a:avLst/>
          </a:prstGeom>
        </p:spPr>
        <p:txBody>
          <a:bodyPr wrap="square" rtlCol="1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800" b="1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Wave form</a:t>
            </a:r>
            <a:endParaRPr lang="ar-EG" sz="3200" b="1" dirty="0"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34937B-943F-1C4E-637B-0212E175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2081"/>
            <a:ext cx="12192000" cy="417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5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055997-2EC3-3495-575A-1C5CE91F90E7}"/>
              </a:ext>
            </a:extLst>
          </p:cNvPr>
          <p:cNvSpPr txBox="1"/>
          <p:nvPr/>
        </p:nvSpPr>
        <p:spPr>
          <a:xfrm>
            <a:off x="5310040" y="173551"/>
            <a:ext cx="15719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Output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6ADEC4-6216-3999-1625-312DB5FC0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719" y="758326"/>
            <a:ext cx="7140559" cy="60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49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http://schemas.microsoft.com/sharepoint/v3"/>
    <ds:schemaRef ds:uri="http://schemas.openxmlformats.org/package/2006/metadata/core-properties"/>
    <ds:schemaRef ds:uri="230e9df3-be65-4c73-a93b-d1236ebd677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454</TotalTime>
  <Words>944</Words>
  <Application>Microsoft Office PowerPoint</Application>
  <PresentationFormat>Widescreen</PresentationFormat>
  <Paragraphs>72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等线</vt:lpstr>
      <vt:lpstr>Abadi</vt:lpstr>
      <vt:lpstr>Arial</vt:lpstr>
      <vt:lpstr>Calibri</vt:lpstr>
      <vt:lpstr>Cambria</vt:lpstr>
      <vt:lpstr>Menlo</vt:lpstr>
      <vt:lpstr>Posterama</vt:lpstr>
      <vt:lpstr>Posterama Text Black</vt:lpstr>
      <vt:lpstr>Posterama Text SemiBold</vt:lpstr>
      <vt:lpstr>quote-cjk-patch</vt:lpstr>
      <vt:lpstr>Symbol</vt:lpstr>
      <vt:lpstr>Custom​​</vt:lpstr>
      <vt:lpstr>Final Project UART(tx)  (Universal Asynchronous Receiver Transmitte)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UART  (Universal Asynchronous Receiver Transmitte)</dc:title>
  <dc:creator>Yusuf Ahmed Mohmed Abdelfadel</dc:creator>
  <cp:lastModifiedBy>Yusuf Ahmed Mohmed Abdelfadel</cp:lastModifiedBy>
  <cp:revision>8</cp:revision>
  <dcterms:created xsi:type="dcterms:W3CDTF">2026-08-28T16:05:39Z</dcterms:created>
  <dcterms:modified xsi:type="dcterms:W3CDTF">2026-09-04T00:32:53Z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